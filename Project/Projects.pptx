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3" r:id="rId2"/>
    <p:sldMasterId id="2147483675" r:id="rId3"/>
    <p:sldMasterId id="2147483677" r:id="rId4"/>
  </p:sldMasterIdLst>
  <p:notesMasterIdLst>
    <p:notesMasterId r:id="rId12"/>
  </p:notesMasterIdLst>
  <p:sldIdLst>
    <p:sldId id="256" r:id="rId5"/>
    <p:sldId id="257" r:id="rId6"/>
    <p:sldId id="258" r:id="rId7"/>
    <p:sldId id="335" r:id="rId8"/>
    <p:sldId id="259" r:id="rId9"/>
    <p:sldId id="261" r:id="rId10"/>
    <p:sldId id="33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1379" autoAdjust="0"/>
  </p:normalViewPr>
  <p:slideViewPr>
    <p:cSldViewPr snapToGrid="0">
      <p:cViewPr varScale="1">
        <p:scale>
          <a:sx n="130" d="100"/>
          <a:sy n="130" d="100"/>
        </p:scale>
        <p:origin x="2976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200" d="100"/>
        <a:sy n="200" d="100"/>
      </p:scale>
      <p:origin x="0" y="-10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E557F7-B915-6C44-850F-20FFF89E2831}" type="datetimeFigureOut">
              <a:rPr lang="en-US" smtClean="0"/>
              <a:t>9/30/24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C83890-6E6B-1247-9DBC-94457027C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22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rtl="0" fontAlgn="base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Data Collecting: Kafka, ..</a:t>
            </a:r>
          </a:p>
          <a:p>
            <a:pPr algn="just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Database: GG bucket, Elasticsearch, MongoDB, …</a:t>
            </a:r>
          </a:p>
          <a:p>
            <a:pPr algn="just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Data query and process: Spark</a:t>
            </a:r>
          </a:p>
          <a:p>
            <a:pPr algn="just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Analytics: Kibana, …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C83890-6E6B-1247-9DBC-94457027C3E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3981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Collecting data sources that satisfy bigdata characteristics (minimum 3V volume-velocity-variety), store data</a:t>
            </a:r>
          </a:p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C83890-6E6B-1247-9DBC-94457027C3E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2038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C83890-6E6B-1247-9DBC-94457027C3E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023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305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815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5729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969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008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34540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3977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01854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05128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951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909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54F70-FA59-084B-B63B-2C4EFC5DE67A}" type="datetime1">
              <a:t>9/30/24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BBDA-6239-48A4-BF42-145536EAE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3092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6500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49758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703443"/>
            <a:ext cx="7772400" cy="1216550"/>
          </a:xfrm>
        </p:spPr>
        <p:txBody>
          <a:bodyPr anchor="b"/>
          <a:lstStyle>
            <a:lvl1pPr algn="ctr">
              <a:defRPr sz="6000"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341412"/>
            <a:ext cx="6858000" cy="916388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00206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DBAE9-26A9-49EF-8BA7-544784D5DCF7}" type="datetimeFigureOut">
              <a:rPr lang="en-GB" smtClean="0"/>
              <a:t>30/09/2024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E1C0-FD84-423A-8139-7A016E51AC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6767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DBAE9-26A9-49EF-8BA7-544784D5DCF7}" type="datetimeFigureOut">
              <a:rPr lang="en-GB" smtClean="0"/>
              <a:t>30/09/2024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E1C0-FD84-423A-8139-7A016E51AC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27855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208598"/>
            <a:ext cx="3886200" cy="49683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208598"/>
            <a:ext cx="3886200" cy="49683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DBAE9-26A9-49EF-8BA7-544784D5DCF7}" type="datetimeFigureOut">
              <a:rPr lang="en-GB" smtClean="0"/>
              <a:t>30/09/2024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E1C0-FD84-423A-8139-7A016E51AC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64152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66D92-000C-E8F7-BE74-82AC05485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0" y="71562"/>
            <a:ext cx="5263762" cy="560821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5707D1-9D9E-35E8-FDCF-3E3AD0BE4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DBAE9-26A9-49EF-8BA7-544784D5DCF7}" type="datetimeFigureOut">
              <a:rPr lang="en-GB" smtClean="0"/>
              <a:pPr/>
              <a:t>30/09/2024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062CF8-B466-B12F-F6C6-02116B10A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3D4B51-3577-807F-958D-E6DDE7B12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E1C0-FD84-423A-8139-7A016E51A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5204753-D591-A5FB-03B1-FE0CF1990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0" y="1081379"/>
            <a:ext cx="4857750" cy="50955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869794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1962190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0087866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54F70-FA59-084B-B63B-2C4EFC5DE67A}" type="datetime1">
              <a:t>9/30/24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BBDA-6239-48A4-BF42-145536EAE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776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9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490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063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2706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5B8DD78-B698-16E9-DC12-508FF0697A49}"/>
              </a:ext>
            </a:extLst>
          </p:cNvPr>
          <p:cNvSpPr/>
          <p:nvPr/>
        </p:nvSpPr>
        <p:spPr>
          <a:xfrm>
            <a:off x="0" y="9852"/>
            <a:ext cx="9144000" cy="62253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71562"/>
            <a:ext cx="7886700" cy="5608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081379"/>
            <a:ext cx="7886700" cy="5095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49152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E63DBAE9-26A9-49EF-8BA7-544784D5DCF7}" type="datetimeFigureOut">
              <a:rPr lang="en-GB" smtClean="0"/>
              <a:pPr/>
              <a:t>30/09/2024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49947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49151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AA29E1C0-FD84-423A-8139-7A016E51ACB7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1CF223-1BB8-ABED-B352-F11BFF182212}"/>
              </a:ext>
            </a:extLst>
          </p:cNvPr>
          <p:cNvCxnSpPr>
            <a:cxnSpLocks/>
          </p:cNvCxnSpPr>
          <p:nvPr/>
        </p:nvCxnSpPr>
        <p:spPr>
          <a:xfrm>
            <a:off x="-9525" y="784186"/>
            <a:ext cx="9148759" cy="0"/>
          </a:xfrm>
          <a:prstGeom prst="line">
            <a:avLst/>
          </a:prstGeom>
          <a:ln w="44450">
            <a:solidFill>
              <a:srgbClr val="C020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F7E3296-573D-B4DD-553F-DF215A6C2598}"/>
              </a:ext>
            </a:extLst>
          </p:cNvPr>
          <p:cNvSpPr txBox="1"/>
          <p:nvPr/>
        </p:nvSpPr>
        <p:spPr>
          <a:xfrm>
            <a:off x="1106457" y="6300357"/>
            <a:ext cx="22526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TRƯỜNG CÔNG NGHỆ THÔNG TIN VÀ TRUYỀN THÔNG</a:t>
            </a:r>
            <a:br>
              <a:rPr lang="en-US" sz="600" b="1" dirty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n-US" sz="600" b="0" dirty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School of Information and Communication Technology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DAAC8BF-5B10-E3AF-3509-1BCA8142BED4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-12703" r="1"/>
          <a:stretch/>
        </p:blipFill>
        <p:spPr>
          <a:xfrm>
            <a:off x="110239" y="6247804"/>
            <a:ext cx="1061334" cy="382106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72B8C83-0055-42B7-ED25-569DD3267D1A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3359150" y="6438092"/>
            <a:ext cx="5549773" cy="765"/>
          </a:xfrm>
          <a:prstGeom prst="line">
            <a:avLst/>
          </a:prstGeom>
          <a:ln w="19050">
            <a:solidFill>
              <a:srgbClr val="C020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385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bg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Project</a:t>
            </a:r>
            <a:br>
              <a:rPr lang="en-US" sz="3600" dirty="0"/>
            </a:br>
            <a:r>
              <a:rPr lang="en-US" sz="3600" dirty="0"/>
              <a:t>Big Data Storage and Processing</a:t>
            </a:r>
            <a:endParaRPr lang="en-US" sz="2700" b="0" dirty="0">
              <a:latin typeface="+mn-lt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4527815-3CA6-B94B-83A0-85D0A857FF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79039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4FCD5-BF52-57B6-96AD-F0E45F57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2BDBD-84C1-CD71-7CBF-A6EE17C70D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81379"/>
            <a:ext cx="7886700" cy="1677061"/>
          </a:xfrm>
        </p:spPr>
        <p:txBody>
          <a:bodyPr/>
          <a:lstStyle/>
          <a:p>
            <a:r>
              <a:rPr lang="en-US" dirty="0"/>
              <a:t>Build a big data storage and processing architecture with a full range of components as shown below including : data collection, storage, analysis and visualization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7DE506-85F4-FFC7-16EB-409BD7C40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E1C0-FD84-423A-8139-7A016E51ACB7}" type="slidenum">
              <a:rPr lang="en-GB" smtClean="0"/>
              <a:t>2</a:t>
            </a:fld>
            <a:endParaRPr lang="en-GB"/>
          </a:p>
        </p:txBody>
      </p:sp>
      <p:pic>
        <p:nvPicPr>
          <p:cNvPr id="1026" name="Picture 2" descr="No description available.">
            <a:extLst>
              <a:ext uri="{FF2B5EF4-FFF2-40B4-BE49-F238E27FC236}">
                <a16:creationId xmlns:a16="http://schemas.microsoft.com/office/drawing/2014/main" id="{A286E51D-9EA6-51F0-48DE-8E5AA8EC51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512" y="3010561"/>
            <a:ext cx="7493101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975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971D4-9BE7-46FE-43FC-4805ED874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F7342-A094-C706-3A11-7635B49FF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Direction 1: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Building and install a big data architecture</a:t>
            </a:r>
          </a:p>
          <a:p>
            <a:r>
              <a:rPr lang="en-US" dirty="0"/>
              <a:t>Do</a:t>
            </a:r>
          </a:p>
          <a:p>
            <a:pPr lvl="1"/>
            <a:r>
              <a:rPr lang="en-US" dirty="0"/>
              <a:t>Dashboard with charts that are helpful for understanding an overview of the data analyze</a:t>
            </a:r>
          </a:p>
          <a:p>
            <a:pPr lvl="1"/>
            <a:r>
              <a:rPr lang="en-US" dirty="0"/>
              <a:t>Data analysis: exploring the knowledge/information hidden under the data, helping to solve practical problems.</a:t>
            </a:r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Environment: k8s or cloud (No docker)</a:t>
            </a:r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Emulate distributed environment</a:t>
            </a:r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Test scalability,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faul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-tolerance</a:t>
            </a:r>
          </a:p>
          <a:p>
            <a:r>
              <a:rPr lang="en-US" dirty="0">
                <a:solidFill>
                  <a:srgbClr val="C00000"/>
                </a:solidFill>
              </a:rPr>
              <a:t>Don’t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This course is not about Machine learning modeling </a:t>
            </a:r>
          </a:p>
          <a:p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7F6434-2EB0-8B48-1F4B-6C73FDEE1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E1C0-FD84-423A-8139-7A016E51ACB7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9879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DBC63-460C-AC2A-B565-956D315A8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318F0-BC86-3EAA-8BDE-3C95A7964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Direction 2: </a:t>
            </a:r>
          </a:p>
          <a:p>
            <a:pPr lvl="1"/>
            <a:r>
              <a:rPr lang="vi-VN" dirty="0"/>
              <a:t>Research in deep a recent big data technology</a:t>
            </a:r>
          </a:p>
          <a:p>
            <a:pPr lvl="2"/>
            <a:r>
              <a:rPr lang="vi-VN" dirty="0"/>
              <a:t>Apache Iceberg, Druid, Deltalake, etc </a:t>
            </a:r>
          </a:p>
          <a:p>
            <a:pPr lvl="1"/>
            <a:r>
              <a:rPr lang="vi-VN" dirty="0"/>
              <a:t>Research in deep a big data related paper </a:t>
            </a:r>
          </a:p>
          <a:p>
            <a:pPr lvl="1"/>
            <a:endParaRPr lang="vi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6A2B8-D942-ABCA-EE27-CB00231FB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E1C0-FD84-423A-8139-7A016E51ACB7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8836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CD89C-8202-02F9-F4FF-3DF7A9D28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directions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6793D-5497-4BCC-6524-C5D70ADF9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(Very simple, not to be complicated)</a:t>
            </a:r>
          </a:p>
          <a:p>
            <a:pPr lvl="1"/>
            <a:r>
              <a:rPr lang="en-US" dirty="0"/>
              <a:t>Trend analysis</a:t>
            </a:r>
          </a:p>
          <a:p>
            <a:pPr lvl="1"/>
            <a:r>
              <a:rPr lang="en-US" dirty="0"/>
              <a:t>Detect unusual/typical events</a:t>
            </a:r>
          </a:p>
          <a:p>
            <a:pPr lvl="1"/>
            <a:r>
              <a:rPr lang="en-US" dirty="0"/>
              <a:t>Forecast price fluctuations</a:t>
            </a:r>
          </a:p>
          <a:p>
            <a:pPr lvl="1"/>
            <a:r>
              <a:rPr lang="en-US" dirty="0"/>
              <a:t>Detect fakes and scams</a:t>
            </a:r>
          </a:p>
          <a:p>
            <a:pPr lvl="1"/>
            <a:r>
              <a:rPr lang="en-US" dirty="0"/>
              <a:t>Evaluate </a:t>
            </a:r>
            <a:r>
              <a:rPr lang="en-US" dirty="0" err="1"/>
              <a:t>KOLs</a:t>
            </a:r>
            <a:r>
              <a:rPr lang="en-US" dirty="0"/>
              <a:t> on social networks</a:t>
            </a:r>
          </a:p>
          <a:p>
            <a:pPr lvl="1"/>
            <a:r>
              <a:rPr lang="en-US" dirty="0"/>
              <a:t>Analyze sentiments</a:t>
            </a:r>
          </a:p>
          <a:p>
            <a:pPr lvl="1"/>
            <a:r>
              <a:rPr lang="en-US" dirty="0"/>
              <a:t>Evaluate/forecast potential products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25B7DD-8E7B-2791-BD08-45BA38DD8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E1C0-FD84-423A-8139-7A016E51ACB7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3099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DC958-A377-1181-0D99-30A1AF94C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9D332-C540-3C94-037C-1714B9EAD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+ 1W due to the delay</a:t>
            </a:r>
          </a:p>
          <a:p>
            <a:r>
              <a:rPr lang="en-US" dirty="0"/>
              <a:t>Oct 2, 2024: List of groups (4-5 students/group) (file </a:t>
            </a:r>
            <a:r>
              <a:rPr lang="en-US" dirty="0" err="1"/>
              <a:t>project.xslx</a:t>
            </a:r>
            <a:r>
              <a:rPr lang="en-US" dirty="0"/>
              <a:t>) </a:t>
            </a:r>
          </a:p>
          <a:p>
            <a:r>
              <a:rPr lang="en-US" dirty="0"/>
              <a:t>Oct 3, 2024: creating channel (on MS. Teams) for each group </a:t>
            </a:r>
          </a:p>
          <a:p>
            <a:r>
              <a:rPr lang="en-US" dirty="0"/>
              <a:t>Oct 6, 2024: Project description submission </a:t>
            </a:r>
          </a:p>
          <a:p>
            <a:r>
              <a:rPr lang="en-US" dirty="0"/>
              <a:t>Oct 10, 2024: Feedback</a:t>
            </a:r>
          </a:p>
          <a:p>
            <a:r>
              <a:rPr lang="en-US" dirty="0"/>
              <a:t>Nov 1, 2024: progress report </a:t>
            </a:r>
          </a:p>
          <a:p>
            <a:r>
              <a:rPr lang="en-US" dirty="0"/>
              <a:t>Dec 9-25, 2024: Final presentation </a:t>
            </a:r>
          </a:p>
          <a:p>
            <a:pPr marL="0" indent="0">
              <a:buNone/>
            </a:pPr>
            <a:r>
              <a:rPr lang="en-US" dirty="0"/>
              <a:t>(Project communication via group channel)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27F4F-5B9E-7469-C3BF-7CB447758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E1C0-FD84-423A-8139-7A016E51ACB7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5355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5EAC4-A9DD-45E5-88C7-675D73494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description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35DB7-F449-4D5F-BB96-EA3568CD3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Title: </a:t>
            </a:r>
          </a:p>
          <a:p>
            <a:pPr lvl="1"/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E.g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: apartment  rental price analysis in Vietnam</a:t>
            </a:r>
          </a:p>
          <a:p>
            <a:r>
              <a:rPr lang="en-US" dirty="0"/>
              <a:t>Data sources </a:t>
            </a:r>
          </a:p>
          <a:p>
            <a:pPr lvl="1"/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E.g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: Crawl from internet (list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url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  <a:p>
            <a:r>
              <a:rPr lang="en-US" dirty="0"/>
              <a:t>Requirements/Functions  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Collecting data: describe data to be collected including key features such as apartment area, location, number of rooms, price…,  identify problems/challenges (missing data, irregular data structure, heterogeneity…)  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Storage requirement: expected volume of data for storage …. 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Processing/analysis: list the various types of analysis and visualization requirement.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E.g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 calculating the average price over a period,  predicting the rental price …. (statistical calculations should be included, and the use of machine learning/AI models is encouraged to discover hidden information within the data and assist in solving the practical problems identified)</a:t>
            </a:r>
          </a:p>
          <a:p>
            <a:pPr lvl="1"/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464166"/>
      </p:ext>
    </p:extLst>
  </p:cSld>
  <p:clrMapOvr>
    <a:masterClrMapping/>
  </p:clrMapOvr>
</p:sld>
</file>

<file path=ppt/theme/theme1.xml><?xml version="1.0" encoding="utf-8"?>
<a:theme xmlns:a="http://schemas.openxmlformats.org/drawingml/2006/main" name="SoICT-PPT-template(official) - Eng&amp;Vi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2" id="{AABF8FC6-DCB2-4A09-912E-D8E306E4BFF0}" vid="{81F8D7C4-D18F-4520-81E7-2C973BC447B3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SoICT-PPT-template(official) - Eng&amp;Vie</Template>
  <TotalTime>6192</TotalTime>
  <Words>439</Words>
  <Application>Microsoft Macintosh PowerPoint</Application>
  <PresentationFormat>On-screen Show (4:3)</PresentationFormat>
  <Paragraphs>58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Calibri</vt:lpstr>
      <vt:lpstr>Lato</vt:lpstr>
      <vt:lpstr>Times New Roman</vt:lpstr>
      <vt:lpstr>SoICT-PPT-template(official) - Eng&amp;Vie</vt:lpstr>
      <vt:lpstr>1_Office Theme</vt:lpstr>
      <vt:lpstr>2_Office Theme</vt:lpstr>
      <vt:lpstr>Office Theme</vt:lpstr>
      <vt:lpstr>Project Big Data Storage and Processing</vt:lpstr>
      <vt:lpstr>Objective</vt:lpstr>
      <vt:lpstr>Requirements</vt:lpstr>
      <vt:lpstr>PowerPoint Presentation</vt:lpstr>
      <vt:lpstr>Some directions</vt:lpstr>
      <vt:lpstr>Project Timeline</vt:lpstr>
      <vt:lpstr>Project description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Hang</dc:creator>
  <cp:lastModifiedBy>Tran Viet Trung</cp:lastModifiedBy>
  <cp:revision>380</cp:revision>
  <dcterms:created xsi:type="dcterms:W3CDTF">2016-07-25T07:53:11Z</dcterms:created>
  <dcterms:modified xsi:type="dcterms:W3CDTF">2024-09-30T02:01:53Z</dcterms:modified>
</cp:coreProperties>
</file>